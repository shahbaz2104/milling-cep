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B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858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9FC6DE"/>
                </a:solidFill>
                <a:latin typeface="Arial"/>
              </a:rPr>
              <a:t>ME-446  ·  AI &amp; INTERNET OF THINGS  ·  COMPLEX ENGINEERING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241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Detecting Dangerous
Milling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06324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D6E4EE"/>
                </a:solidFill>
                <a:latin typeface="Arial"/>
              </a:rPr>
              <a:t>from vibration and spindle/drive-current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528" y="3977639"/>
            <a:ext cx="82296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224528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Random forest  ·  96.2 % recall  ·  MCC 0.762  ·  grouped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5943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B7CBD9"/>
                </a:solidFill>
                <a:latin typeface="Arial"/>
              </a:rPr>
              <a:t>Group ______  ·  NED University of Engineering &amp;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544068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FB5C4"/>
                </a:solidFill>
                <a:latin typeface="Arial"/>
              </a:rPr>
              <a:t>Data: Piecuch &amp; Żabiński, Scientific Data 12, 650 (2025) · CC BY 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E86AB"/>
                </a:solidFill>
                <a:latin typeface="Arial"/>
              </a:rPr>
              <a:t>01 · ENGINEERING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62B3C"/>
                </a:solidFill>
                <a:latin typeface="Arial"/>
              </a:rPr>
              <a:t>A safety monitor for an aggressive cut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71016"/>
            <a:ext cx="960120" cy="50292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573"/>
                </a:solidFill>
                <a:latin typeface="Arial"/>
              </a:rPr>
              <a:t>The machine does not know which radial depth of cut it is running. The sensor signature does.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64008" cy="2286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2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62B3C"/>
                </a:solidFill>
                <a:latin typeface="Arial"/>
              </a:rPr>
              <a:t>The condition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87168"/>
            <a:ext cx="3017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A33"/>
                </a:solidFill>
                <a:latin typeface="Arial"/>
              </a:rPr>
              <a:t>RDOC 8 mm is 80 % of the cutter diameter. Chip load, cutting force and spindle torque rise; chatter and overload become likely.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178308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1783080"/>
            <a:ext cx="64008" cy="22860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993392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62B3C"/>
                </a:solidFill>
                <a:latin typeface="Arial"/>
              </a:rPr>
              <a:t>The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487168"/>
            <a:ext cx="3017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A33"/>
                </a:solidFill>
                <a:latin typeface="Arial"/>
              </a:rPr>
              <a:t>A missed dangerous cut means faster wear, scrap or a broken tool. A false alarm costs an inspection, not a spindle.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178308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01583" y="1783080"/>
            <a:ext cx="64008" cy="2286000"/>
          </a:xfrm>
          <a:prstGeom prst="rect">
            <a:avLst/>
          </a:prstGeom>
          <a:solidFill>
            <a:srgbClr val="6A99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7615" y="1993392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62B3C"/>
                </a:solidFill>
                <a:latin typeface="Arial"/>
              </a:rPr>
              <a:t>The task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5" y="2487168"/>
            <a:ext cx="3017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A33"/>
                </a:solidFill>
                <a:latin typeface="Arial"/>
              </a:rPr>
              <a:t>Binary classification: optimal (4.5 mm) vs non-optimal (8 mm). 120 vibration/current statistics per cycle; no process settings as inputs.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70832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553712"/>
            <a:ext cx="10561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A33"/>
                </a:solidFill>
                <a:latin typeface="Arial"/>
              </a:rPr>
              <a:t>Why it is a genuine CEP problem: RDOC is constant within every tool and experiment. A random row split lets the model memorise tool identity, so the validation design — not just the algorithm — decides whether the result is believable.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510528"/>
            <a:ext cx="8778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573"/>
                </a:solidFill>
                <a:latin typeface="Arial"/>
              </a:rPr>
              <a:t>Piecuch &amp; Żabiński, Scientific Data 12, 650 (2025) · CC BY 4.0 · ME-446 CEP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1052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573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E86AB"/>
                </a:solidFill>
                <a:latin typeface="Arial"/>
              </a:rPr>
              <a:t>02 ·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62B3C"/>
                </a:solidFill>
                <a:latin typeface="Arial"/>
              </a:rPr>
              <a:t>968 cycles from a public milling campaign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71016"/>
            <a:ext cx="960120" cy="50292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573"/>
                </a:solidFill>
                <a:latin typeface="Arial"/>
              </a:rPr>
              <a:t>Piecuch &amp; Żabiński (2025), Scientific Data — processed 120-statistic feature matrix, CC BY 4.0.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352044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9384"/>
            <a:ext cx="3246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B3C"/>
                </a:solidFill>
                <a:latin typeface="Arial"/>
              </a:rPr>
              <a:t>968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50008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573"/>
                </a:solidFill>
                <a:latin typeface="Arial"/>
              </a:rPr>
              <a:t>milling cycles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783080"/>
            <a:ext cx="352044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8848" y="1929384"/>
            <a:ext cx="3246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B3C"/>
                </a:solidFill>
                <a:latin typeface="Arial"/>
              </a:rP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2350008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573"/>
                </a:solidFill>
                <a:latin typeface="Arial"/>
              </a:rPr>
              <a:t>experiments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3" y="1783080"/>
            <a:ext cx="352044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6175" y="1929384"/>
            <a:ext cx="3246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B3C"/>
                </a:solidFill>
                <a:latin typeface="Arial"/>
              </a:rPr>
              <a:t>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6175" y="2350008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573"/>
                </a:solidFill>
                <a:latin typeface="Arial"/>
              </a:rPr>
              <a:t>cutting tools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953512"/>
            <a:ext cx="352044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099816"/>
            <a:ext cx="3246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E86AB"/>
                </a:solidFill>
                <a:latin typeface="Arial"/>
              </a:rPr>
              <a:t>120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20440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573"/>
                </a:solidFill>
                <a:latin typeface="Arial"/>
              </a:rPr>
              <a:t>sensor statistics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4256" y="2953512"/>
            <a:ext cx="352044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98848" y="3099816"/>
            <a:ext cx="3246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D1495B"/>
                </a:solidFill>
                <a:latin typeface="Arial"/>
              </a:rPr>
              <a:t>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3520440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573"/>
                </a:solidFill>
                <a:latin typeface="Arial"/>
              </a:rPr>
              <a:t>dangerous cycles · 21.9 %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2953512"/>
            <a:ext cx="352044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6175" y="3099816"/>
            <a:ext cx="3246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6A994E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3520440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573"/>
                </a:solidFill>
                <a:latin typeface="Arial"/>
              </a:rPr>
              <a:t>RDOC levels: 4.5 / 8 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434840"/>
            <a:ext cx="64008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050">
                <a:solidFill>
                  <a:srgbClr val="2E86AB"/>
                </a:solidFill>
                <a:latin typeface="Arial"/>
              </a:rPr>
              <a:t>▪  </a:t>
            </a:r>
            <a:r>
              <a:rPr sz="1050" b="1">
                <a:solidFill>
                  <a:srgbClr val="1F2A33"/>
                </a:solidFill>
                <a:latin typeface="Arial"/>
              </a:rPr>
              <a:t>Two independent sources</a:t>
            </a:r>
            <a:r>
              <a:rPr sz="1050">
                <a:solidFill>
                  <a:srgbClr val="1F2A33"/>
                </a:solidFill>
                <a:latin typeface="Arial"/>
              </a:rPr>
              <a:t>  feature CSV and metadata workbook cross-checked row for row.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050">
                <a:solidFill>
                  <a:srgbClr val="2E86AB"/>
                </a:solidFill>
                <a:latin typeface="Arial"/>
              </a:rPr>
              <a:t>▪  </a:t>
            </a:r>
            <a:r>
              <a:rPr sz="1050" b="1">
                <a:solidFill>
                  <a:srgbClr val="1F2A33"/>
                </a:solidFill>
                <a:latin typeface="Arial"/>
              </a:rPr>
              <a:t>Zero missing values</a:t>
            </a:r>
            <a:r>
              <a:rPr sz="1050">
                <a:solidFill>
                  <a:srgbClr val="1F2A33"/>
                </a:solidFill>
                <a:latin typeface="Arial"/>
              </a:rPr>
              <a:t>  no duplicate rows, no duplicate sensor vectors, no zero-variance features.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050">
                <a:solidFill>
                  <a:srgbClr val="2E86AB"/>
                </a:solidFill>
                <a:latin typeface="Arial"/>
              </a:rPr>
              <a:t>▪  </a:t>
            </a:r>
            <a:r>
              <a:rPr sz="1050" b="1">
                <a:solidFill>
                  <a:srgbClr val="1F2A33"/>
                </a:solidFill>
                <a:latin typeface="Arial"/>
              </a:rPr>
              <a:t>Difficult records kept</a:t>
            </a:r>
            <a:r>
              <a:rPr sz="1050">
                <a:solidFill>
                  <a:srgbClr val="1F2A33"/>
                </a:solidFill>
                <a:latin typeface="Arial"/>
              </a:rPr>
              <a:t>  14 censored cycles and one single-cycle failure retained, not deleted.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0920" y="4370832"/>
            <a:ext cx="42519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535424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E86AB"/>
                </a:solidFill>
                <a:latin typeface="Arial"/>
              </a:rPr>
              <a:t>Features the model sees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846320"/>
            <a:ext cx="3794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F2A33"/>
                </a:solidFill>
                <a:latin typeface="Arial"/>
              </a:rPr>
              <a:t>8 accelerometer channels + 12 current channels, each with min, max, mean, std, skew and kurtosis. Metadata, hardness, wear counters and IDs are excluded.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8778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573"/>
                </a:solidFill>
                <a:latin typeface="Arial"/>
              </a:rPr>
              <a:t>Piecuch &amp; Żabiński, Scientific Data 12, 650 (2025) · CC BY 4.0 · ME-446 CEP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51052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573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E86AB"/>
                </a:solidFill>
                <a:latin typeface="Arial"/>
              </a:rPr>
              <a:t>03 · THE TRAP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62B3C"/>
                </a:solidFill>
                <a:latin typeface="Arial"/>
              </a:rPr>
              <a:t>RDOC is perfectly confounded with tool identity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71016"/>
            <a:ext cx="960120" cy="50292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573"/>
                </a:solidFill>
                <a:latin typeface="Arial"/>
              </a:rPr>
              <a:t>0 experiments and 0 tools contain both classes — so the split strategy is the result.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783080"/>
            <a:ext cx="50749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220">
                <a:solidFill>
                  <a:srgbClr val="2E86AB"/>
                </a:solidFill>
                <a:latin typeface="Arial"/>
              </a:rPr>
              <a:t>▪  </a:t>
            </a:r>
            <a:r>
              <a:rPr sz="1220" b="1">
                <a:solidFill>
                  <a:srgbClr val="1F2A33"/>
                </a:solidFill>
                <a:latin typeface="Arial"/>
              </a:rPr>
              <a:t>One condition per tool</a:t>
            </a:r>
            <a:r>
              <a:rPr sz="1220">
                <a:solidFill>
                  <a:srgbClr val="1F2A33"/>
                </a:solidFill>
                <a:latin typeface="Arial"/>
              </a:rPr>
              <a:t>  Every tool runs at exactly one RDOC/ADOC combination.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220">
                <a:solidFill>
                  <a:srgbClr val="2E86AB"/>
                </a:solidFill>
                <a:latin typeface="Arial"/>
              </a:rPr>
              <a:t>▪  </a:t>
            </a:r>
            <a:r>
              <a:rPr sz="1220" b="1">
                <a:solidFill>
                  <a:srgbClr val="1F2A33"/>
                </a:solidFill>
                <a:latin typeface="Arial"/>
              </a:rPr>
              <a:t>One condition per experiment</a:t>
            </a:r>
            <a:r>
              <a:rPr sz="1220">
                <a:solidFill>
                  <a:srgbClr val="1F2A33"/>
                </a:solidFill>
                <a:latin typeface="Arial"/>
              </a:rPr>
              <a:t>  So do all 24 experiments; the class is a property of the setup.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220">
                <a:solidFill>
                  <a:srgbClr val="2E86AB"/>
                </a:solidFill>
                <a:latin typeface="Arial"/>
              </a:rPr>
              <a:t>▪  </a:t>
            </a:r>
            <a:r>
              <a:rPr sz="1220" b="1">
                <a:solidFill>
                  <a:srgbClr val="1F2A33"/>
                </a:solidFill>
                <a:latin typeface="Arial"/>
              </a:rPr>
              <a:t>Tool type 2 never appears at 8 mm</a:t>
            </a:r>
            <a:r>
              <a:rPr sz="1220">
                <a:solidFill>
                  <a:srgbClr val="1F2A33"/>
                </a:solidFill>
                <a:latin typeface="Arial"/>
              </a:rPr>
              <a:t>  Material and tool type are entangled with the target.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220">
                <a:solidFill>
                  <a:srgbClr val="2E86AB"/>
                </a:solidFill>
                <a:latin typeface="Arial"/>
              </a:rPr>
              <a:t>▪  </a:t>
            </a:r>
            <a:r>
              <a:rPr sz="1220" b="1">
                <a:solidFill>
                  <a:srgbClr val="1F2A33"/>
                </a:solidFill>
                <a:latin typeface="Arial"/>
              </a:rPr>
              <a:t>Random split leaks</a:t>
            </a:r>
            <a:r>
              <a:rPr sz="1220">
                <a:solidFill>
                  <a:srgbClr val="1F2A33"/>
                </a:solidFill>
                <a:latin typeface="Arial"/>
              </a:rPr>
              <a:t>  The same tool appears in train and test; scores become memorisation.</a:t>
            </a:r>
          </a:p>
        </p:txBody>
      </p:sp>
      <p:pic>
        <p:nvPicPr>
          <p:cNvPr id="7" name="Picture 6" descr="fig02_tool_condition_confou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727852"/>
            <a:ext cx="5715000" cy="2179534"/>
          </a:xfrm>
          <a:prstGeom prst="rect">
            <a:avLst/>
          </a:prstGeom>
          <a:ln w="9525">
            <a:solidFill>
              <a:srgbClr val="D9E2E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1792" y="5715000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573"/>
                </a:solidFill>
                <a:latin typeface="Arial"/>
              </a:rPr>
              <a:t>Tool 11 has one cycle; tool type 2 is only ever optimal.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510528"/>
            <a:ext cx="8778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573"/>
                </a:solidFill>
                <a:latin typeface="Arial"/>
              </a:rPr>
              <a:t>Piecuch &amp; Żabiński, Scientific Data 12, 650 (2025) · CC BY 4.0 · ME-446 CEP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1052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573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E86AB"/>
                </a:solidFill>
                <a:latin typeface="Arial"/>
              </a:rPr>
              <a:t>04 ·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62B3C"/>
                </a:solidFill>
                <a:latin typeface="Arial"/>
              </a:rPr>
              <a:t>Cleaning → grouped validation → four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71016"/>
            <a:ext cx="960120" cy="50292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573"/>
                </a:solidFill>
                <a:latin typeface="Arial"/>
              </a:rPr>
              <a:t>Every model sees the same 120 features and the same folds. Nothing is tuned on the held-out tool.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12140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048256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487168"/>
            <a:ext cx="1783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2B3C"/>
                </a:solidFill>
                <a:latin typeface="Arial"/>
              </a:rPr>
              <a:t>Audit &amp; clean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852928"/>
            <a:ext cx="18105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0">
                <a:solidFill>
                  <a:srgbClr val="1F2A33"/>
                </a:solidFill>
                <a:latin typeface="Arial"/>
              </a:rPr>
              <a:t>Parse export quirks; cross-check sources; keep all 968 cycles.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1828800"/>
            <a:ext cx="212140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17520" y="2011680"/>
            <a:ext cx="384048" cy="384048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7520" y="2048256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87168"/>
            <a:ext cx="1783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2B3C"/>
                </a:solidFill>
                <a:latin typeface="Arial"/>
              </a:rPr>
              <a:t>Features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852928"/>
            <a:ext cx="18105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0">
                <a:solidFill>
                  <a:srgbClr val="1F2A33"/>
                </a:solidFill>
                <a:latin typeface="Arial"/>
              </a:rPr>
              <a:t>signed-log1p on 120 sensor statistics; balanced class weights.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57216" y="1828800"/>
            <a:ext cx="212140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21807" y="2011680"/>
            <a:ext cx="384048" cy="384048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21807" y="2048256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7" y="2487168"/>
            <a:ext cx="1783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2B3C"/>
                </a:solidFill>
                <a:latin typeface="Arial"/>
              </a:rPr>
              <a:t>Grouped CV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2852928"/>
            <a:ext cx="18105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0">
                <a:solidFill>
                  <a:srgbClr val="1F2A33"/>
                </a:solidFill>
                <a:latin typeface="Arial"/>
              </a:rPr>
              <a:t>5 tool folds; tuning nested inside each outer fold.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61504" y="1828800"/>
            <a:ext cx="212140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6096" y="2011680"/>
            <a:ext cx="384048" cy="384048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26096" y="2048256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6096" y="2487168"/>
            <a:ext cx="1783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2B3C"/>
                </a:solidFill>
                <a:latin typeface="Arial"/>
              </a:rPr>
              <a:t>Compare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6096" y="2852928"/>
            <a:ext cx="18105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0">
                <a:solidFill>
                  <a:srgbClr val="1F2A33"/>
                </a:solidFill>
                <a:latin typeface="Arial"/>
              </a:rPr>
              <a:t>Dummy · logistic · random forest · histogram gradient boosting.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65792" y="1828800"/>
            <a:ext cx="212140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30384" y="2011680"/>
            <a:ext cx="384048" cy="384048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30384" y="2048256"/>
            <a:ext cx="3840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30384" y="2487168"/>
            <a:ext cx="1783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2B3C"/>
                </a:solidFill>
                <a:latin typeface="Arial"/>
              </a:rPr>
              <a:t>Select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30384" y="2852928"/>
            <a:ext cx="18105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0">
                <a:solidFill>
                  <a:srgbClr val="1F2A33"/>
                </a:solidFill>
                <a:latin typeface="Arial"/>
              </a:rPr>
              <a:t>Tune threshold on out-of-fold probabilities; stress-test by tool.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4315968"/>
            <a:ext cx="53949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44805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A994E"/>
                </a:solidFill>
                <a:latin typeface="Arial"/>
              </a:rPr>
              <a:t>Primary estimate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773168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F2A33"/>
                </a:solidFill>
                <a:latin typeface="Arial"/>
              </a:rPr>
              <a:t>5-fold tool-group CV, pooled out-of-fold predictions. Leave-one-tool-out and leave-one-experiment-out are sensitivity tests.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315968"/>
            <a:ext cx="5440680" cy="1463040"/>
          </a:xfrm>
          <a:prstGeom prst="roundRect">
            <a:avLst>
              <a:gd name="adj" fmla="val 6000"/>
            </a:avLst>
          </a:prstGeom>
          <a:solidFill>
            <a:srgbClr val="FDEEEF"/>
          </a:solidFill>
          <a:ln w="9525">
            <a:solidFill>
              <a:srgbClr val="F3C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4480560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1495B"/>
                </a:solidFill>
                <a:latin typeface="Arial"/>
              </a:rPr>
              <a:t>Leakage control: never the headline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773168"/>
            <a:ext cx="4983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F2A33"/>
                </a:solidFill>
                <a:latin typeface="Arial"/>
              </a:rPr>
              <a:t>Random 5-fold: RF ROC-AUC 0.998. Tool-grouped: 0.942. The gap is the leakage. All reported numbers are grouped.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510528"/>
            <a:ext cx="8778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573"/>
                </a:solidFill>
                <a:latin typeface="Arial"/>
              </a:rPr>
              <a:t>Piecuch &amp; Żabiński, Scientific Data 12, 650 (2025) · CC BY 4.0 · ME-446 CEP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51052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573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E86AB"/>
                </a:solidFill>
                <a:latin typeface="Arial"/>
              </a:rPr>
              <a:t>05 · MODEL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62B3C"/>
                </a:solidFill>
                <a:latin typeface="Arial"/>
              </a:rPr>
              <a:t>Four models, one honest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71016"/>
            <a:ext cx="960120" cy="50292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573"/>
                </a:solidFill>
                <a:latin typeface="Arial"/>
              </a:rPr>
              <a:t>5-fold tool-group CV, threshold 0.5. ROC-AUC and PR-AUC are threshold-independent; the rest are operating-point metrics.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83080"/>
          <a:ext cx="6949436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6956"/>
                <a:gridCol w="808074"/>
                <a:gridCol w="808074"/>
                <a:gridCol w="808074"/>
                <a:gridCol w="888881"/>
                <a:gridCol w="646459"/>
                <a:gridCol w="646459"/>
                <a:gridCol w="646459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54864" marR="54864" marT="32004" marB="32004" anchor="ctr">
                    <a:solidFill>
                      <a:srgbClr val="162B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ROC-AUC</a:t>
                      </a:r>
                    </a:p>
                  </a:txBody>
                  <a:tcPr marL="54864" marR="54864" marT="32004" marB="32004" anchor="ctr">
                    <a:solidFill>
                      <a:srgbClr val="162B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PR-AUC</a:t>
                      </a:r>
                    </a:p>
                  </a:txBody>
                  <a:tcPr marL="54864" marR="54864" marT="32004" marB="32004" anchor="ctr">
                    <a:solidFill>
                      <a:srgbClr val="162B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Recall</a:t>
                      </a:r>
                    </a:p>
                  </a:txBody>
                  <a:tcPr marL="54864" marR="54864" marT="32004" marB="32004" anchor="ctr">
                    <a:solidFill>
                      <a:srgbClr val="162B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Precision</a:t>
                      </a:r>
                    </a:p>
                  </a:txBody>
                  <a:tcPr marL="54864" marR="54864" marT="32004" marB="32004" anchor="ctr">
                    <a:solidFill>
                      <a:srgbClr val="162B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marL="54864" marR="54864" marT="32004" marB="32004" anchor="ctr">
                    <a:solidFill>
                      <a:srgbClr val="162B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MCC</a:t>
                      </a:r>
                    </a:p>
                  </a:txBody>
                  <a:tcPr marL="54864" marR="54864" marT="32004" marB="32004" anchor="ctr">
                    <a:solidFill>
                      <a:srgbClr val="162B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Brier</a:t>
                      </a:r>
                    </a:p>
                  </a:txBody>
                  <a:tcPr marL="54864" marR="54864" marT="32004" marB="32004" anchor="ctr">
                    <a:solidFill>
                      <a:srgbClr val="162B3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Dummy (prior)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0.386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0.184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0.000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0.000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0.000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0.000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0.173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Logistic regression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0.940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0.733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0.948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0.663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0.781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0.725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0.093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2A33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marL="54864" marR="54864" marT="32004" marB="32004" anchor="ctr">
                    <a:solidFill>
                      <a:srgbClr val="E8F3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A33"/>
                          </a:solidFill>
                          <a:latin typeface="Arial"/>
                        </a:rPr>
                        <a:t>0.942</a:t>
                      </a:r>
                    </a:p>
                  </a:txBody>
                  <a:tcPr marL="54864" marR="54864" marT="32004" marB="32004" anchor="ctr">
                    <a:solidFill>
                      <a:srgbClr val="E8F3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A33"/>
                          </a:solidFill>
                          <a:latin typeface="Arial"/>
                        </a:rPr>
                        <a:t>0.688</a:t>
                      </a:r>
                    </a:p>
                  </a:txBody>
                  <a:tcPr marL="54864" marR="54864" marT="32004" marB="32004" anchor="ctr">
                    <a:solidFill>
                      <a:srgbClr val="E8F3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A33"/>
                          </a:solidFill>
                          <a:latin typeface="Arial"/>
                        </a:rPr>
                        <a:t>0.892</a:t>
                      </a:r>
                    </a:p>
                  </a:txBody>
                  <a:tcPr marL="54864" marR="54864" marT="32004" marB="32004" anchor="ctr">
                    <a:solidFill>
                      <a:srgbClr val="E8F3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A33"/>
                          </a:solidFill>
                          <a:latin typeface="Arial"/>
                        </a:rPr>
                        <a:t>0.724</a:t>
                      </a:r>
                    </a:p>
                  </a:txBody>
                  <a:tcPr marL="54864" marR="54864" marT="32004" marB="32004" anchor="ctr">
                    <a:solidFill>
                      <a:srgbClr val="E8F3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A33"/>
                          </a:solidFill>
                          <a:latin typeface="Arial"/>
                        </a:rPr>
                        <a:t>0.799</a:t>
                      </a:r>
                    </a:p>
                  </a:txBody>
                  <a:tcPr marL="54864" marR="54864" marT="32004" marB="32004" anchor="ctr">
                    <a:solidFill>
                      <a:srgbClr val="E8F3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A33"/>
                          </a:solidFill>
                          <a:latin typeface="Arial"/>
                        </a:rPr>
                        <a:t>0.742</a:t>
                      </a:r>
                    </a:p>
                  </a:txBody>
                  <a:tcPr marL="54864" marR="54864" marT="32004" marB="32004" anchor="ctr">
                    <a:solidFill>
                      <a:srgbClr val="E8F3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A33"/>
                          </a:solidFill>
                          <a:latin typeface="Arial"/>
                        </a:rPr>
                        <a:t>0.082</a:t>
                      </a:r>
                    </a:p>
                  </a:txBody>
                  <a:tcPr marL="54864" marR="54864" marT="32004" marB="32004" anchor="ctr">
                    <a:solidFill>
                      <a:srgbClr val="E8F3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Hist gradient boosting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0.936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0.782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0.877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0.620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0.727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0.650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0.107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4416552"/>
            <a:ext cx="6858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1F2A33"/>
                </a:solidFill>
                <a:latin typeface="Arial"/>
              </a:rPr>
              <a:t>Random forest wins the operating point (F1 0.799, MCC 0.742, Brier 0.082). Gradient boosting wins threshold-independent PR-AUC (0.782) but is weaker at 0.5 — reported honestly, not hidden.</a:t>
            </a:r>
          </a:p>
        </p:txBody>
      </p:sp>
      <p:pic>
        <p:nvPicPr>
          <p:cNvPr id="8" name="Picture 7" descr="fig07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83183"/>
            <a:ext cx="4023360" cy="1731713"/>
          </a:xfrm>
          <a:prstGeom prst="rect">
            <a:avLst/>
          </a:prstGeom>
          <a:ln w="9525">
            <a:solidFill>
              <a:srgbClr val="D9E2E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8778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573"/>
                </a:solidFill>
                <a:latin typeface="Arial"/>
              </a:rPr>
              <a:t>Piecuch &amp; Żabiński, Scientific Data 12, 650 (2025) · CC BY 4.0 · ME-446 CEP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1052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573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E86AB"/>
                </a:solidFill>
                <a:latin typeface="Arial"/>
              </a:rPr>
              <a:t>06 · SELECTED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62B3C"/>
                </a:solidFill>
                <a:latin typeface="Arial"/>
              </a:rPr>
              <a:t>At the tuned operating point, missing a cut is rare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71016"/>
            <a:ext cx="960120" cy="50292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573"/>
                </a:solidFill>
                <a:latin typeface="Arial"/>
              </a:rPr>
              <a:t>Threshold 0.444 maximises F1 on pooled out-of-fold probabilities; it sits below 0.5 on purpose.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9384"/>
            <a:ext cx="15087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D1495B"/>
                </a:solidFill>
                <a:latin typeface="Arial"/>
              </a:rPr>
              <a:t>96.2 %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50008"/>
            <a:ext cx="1508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573"/>
                </a:solidFill>
                <a:latin typeface="Arial"/>
              </a:rPr>
              <a:t>recall (dangerous)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7168" y="1783080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1929384"/>
            <a:ext cx="15087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E86AB"/>
                </a:solidFill>
                <a:latin typeface="Arial"/>
              </a:rPr>
              <a:t>69.9 %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350008"/>
            <a:ext cx="1508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573"/>
                </a:solidFill>
                <a:latin typeface="Arial"/>
              </a:rPr>
              <a:t>precision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1783080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929384"/>
            <a:ext cx="15087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6A994E"/>
                </a:solidFill>
                <a:latin typeface="Arial"/>
              </a:rPr>
              <a:t>0.762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50008"/>
            <a:ext cx="1508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573"/>
                </a:solidFill>
                <a:latin typeface="Arial"/>
              </a:rPr>
              <a:t>MCC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862072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008376"/>
            <a:ext cx="15087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E86AB"/>
                </a:solidFill>
                <a:latin typeface="Arial"/>
              </a:rPr>
              <a:t>0.923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429000"/>
            <a:ext cx="1508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573"/>
                </a:solidFill>
                <a:latin typeface="Arial"/>
              </a:rPr>
              <a:t>balanced accuracy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87168" y="2862072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51760" y="3008376"/>
            <a:ext cx="15087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6A994E"/>
                </a:solidFill>
                <a:latin typeface="Arial"/>
              </a:rPr>
              <a:t>0.810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3429000"/>
            <a:ext cx="1508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573"/>
                </a:solidFill>
                <a:latin typeface="Arial"/>
              </a:rPr>
              <a:t>F1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7408" y="2862072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3008376"/>
            <a:ext cx="15087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B3C"/>
                </a:solidFill>
                <a:latin typeface="Arial"/>
              </a:rPr>
              <a:t>0.082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429000"/>
            <a:ext cx="1508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573"/>
                </a:solidFill>
                <a:latin typeface="Arial"/>
              </a:rPr>
              <a:t>Brier score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114800"/>
            <a:ext cx="55778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80" b="0">
                <a:solidFill>
                  <a:srgbClr val="1F2A33"/>
                </a:solidFill>
                <a:latin typeface="Arial"/>
              </a:rPr>
              <a:t>8 missed dangerous cycles out of 212 (3.8 %), 88 false alarms out of 756 (11.6 %). Leave-one-tool-out agrees: recall 0.962, MCC 0.778. The model is not relying on one grouping of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321808"/>
            <a:ext cx="544068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68112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573"/>
                </a:solidFill>
                <a:latin typeface="Arial"/>
              </a:rPr>
              <a:t>Threshold is a policy: 0.444 favours recall; the dashboard exposes the trade-off.</a:t>
            </a:r>
          </a:p>
        </p:txBody>
      </p:sp>
      <p:pic>
        <p:nvPicPr>
          <p:cNvPr id="27" name="Picture 26" descr="fig09_confusion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59248"/>
            <a:ext cx="5257800" cy="2299623"/>
          </a:xfrm>
          <a:prstGeom prst="rect">
            <a:avLst/>
          </a:prstGeom>
          <a:ln w="9525">
            <a:solidFill>
              <a:srgbClr val="D9E2EA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566928" y="6510528"/>
            <a:ext cx="8778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573"/>
                </a:solidFill>
                <a:latin typeface="Arial"/>
              </a:rPr>
              <a:t>Piecuch &amp; Żabiński, Scientific Data 12, 650 (2025) · CC BY 4.0 · ME-446 CEP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51052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573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E86AB"/>
                </a:solidFill>
                <a:latin typeface="Arial"/>
              </a:rPr>
              <a:t>07 · ERROR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62B3C"/>
                </a:solidFill>
                <a:latin typeface="Arial"/>
              </a:rPr>
              <a:t>One optimal tool drives most false alarms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71016"/>
            <a:ext cx="960120" cy="50292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573"/>
                </a:solidFill>
                <a:latin typeface="Arial"/>
              </a:rPr>
              <a:t>Tool 7 accounts for 75 of the 88 false alarms; the 8 misses are spread across tools 4–6.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810512"/>
          <a:ext cx="429768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097280"/>
                <a:gridCol w="822960"/>
                <a:gridCol w="822960"/>
                <a:gridCol w="914400"/>
              </a:tblGrid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Tool</a:t>
                      </a:r>
                    </a:p>
                  </a:txBody>
                  <a:tcPr marL="54864" marR="54864" marT="32004" marB="32004" anchor="ctr">
                    <a:solidFill>
                      <a:srgbClr val="162B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Actual</a:t>
                      </a:r>
                    </a:p>
                  </a:txBody>
                  <a:tcPr marL="54864" marR="54864" marT="32004" marB="32004" anchor="ctr">
                    <a:solidFill>
                      <a:srgbClr val="162B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Cycles</a:t>
                      </a:r>
                    </a:p>
                  </a:txBody>
                  <a:tcPr marL="54864" marR="54864" marT="32004" marB="32004" anchor="ctr">
                    <a:solidFill>
                      <a:srgbClr val="162B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Mean P</a:t>
                      </a:r>
                    </a:p>
                  </a:txBody>
                  <a:tcPr marL="54864" marR="54864" marT="32004" marB="32004" anchor="ctr">
                    <a:solidFill>
                      <a:srgbClr val="162B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Flagged</a:t>
                      </a:r>
                    </a:p>
                  </a:txBody>
                  <a:tcPr marL="54864" marR="54864" marT="32004" marB="32004" anchor="ctr">
                    <a:solidFill>
                      <a:srgbClr val="162B3C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Dangerous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0.712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92.7 %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Dangerous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0.623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94.1 %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Dangerous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0.676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92.9 %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3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32004" marB="32004" anchor="ctr">
                    <a:solidFill>
                      <a:srgbClr val="E8F3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2A33"/>
                          </a:solidFill>
                          <a:latin typeface="Arial"/>
                        </a:rPr>
                        <a:t>Optimal</a:t>
                      </a:r>
                    </a:p>
                  </a:txBody>
                  <a:tcPr marL="54864" marR="54864" marT="32004" marB="32004" anchor="ctr">
                    <a:solidFill>
                      <a:srgbClr val="E8F3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2A33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54864" marR="54864" marT="32004" marB="32004" anchor="ctr">
                    <a:solidFill>
                      <a:srgbClr val="E8F3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2A33"/>
                          </a:solidFill>
                          <a:latin typeface="Arial"/>
                        </a:rPr>
                        <a:t>0.563</a:t>
                      </a:r>
                    </a:p>
                  </a:txBody>
                  <a:tcPr marL="54864" marR="54864" marT="32004" marB="32004" anchor="ctr">
                    <a:solidFill>
                      <a:srgbClr val="E8F3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2A33"/>
                          </a:solidFill>
                          <a:latin typeface="Arial"/>
                        </a:rPr>
                        <a:t>60.5 %</a:t>
                      </a:r>
                    </a:p>
                  </a:txBody>
                  <a:tcPr marL="54864" marR="54864" marT="32004" marB="32004" anchor="ctr">
                    <a:solidFill>
                      <a:srgbClr val="E8F3E4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Optimal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0.149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5.2 %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</a:tr>
              <a:tr h="37229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Optimal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0.104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A33"/>
                          </a:solidFill>
                          <a:latin typeface="Arial"/>
                        </a:rPr>
                        <a:t>5.6 %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" y="4617720"/>
            <a:ext cx="4206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19" b="0">
                <a:solidFill>
                  <a:srgbClr val="1F2A33"/>
                </a:solidFill>
                <a:latin typeface="Arial"/>
              </a:rPr>
              <a:t>Tool 7 false alarms cluster late in tool life (mean normalised life 0.33). Wear pushes an optimal tool into a dangerous-looking signature — the central confound.</a:t>
            </a:r>
          </a:p>
        </p:txBody>
      </p:sp>
      <p:pic>
        <p:nvPicPr>
          <p:cNvPr id="8" name="Picture 7" descr="fig11_per_tool_probabil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2564933"/>
            <a:ext cx="6446520" cy="2779692"/>
          </a:xfrm>
          <a:prstGeom prst="rect">
            <a:avLst/>
          </a:prstGeom>
          <a:ln w="9525">
            <a:solidFill>
              <a:srgbClr val="D9E2E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8778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573"/>
                </a:solidFill>
                <a:latin typeface="Arial"/>
              </a:rPr>
              <a:t>Piecuch &amp; Żabiński, Scientific Data 12, 650 (2025) · CC BY 4.0 · ME-446 CEP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1052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573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E86AB"/>
                </a:solidFill>
                <a:latin typeface="Arial"/>
              </a:rPr>
              <a:t>08 ·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62B3C"/>
                </a:solidFill>
                <a:latin typeface="Arial"/>
              </a:rPr>
              <a:t>It reads force, not the answer key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71016"/>
            <a:ext cx="960120" cy="50292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573"/>
                </a:solidFill>
                <a:latin typeface="Arial"/>
              </a:rPr>
              <a:t>Permutation importance on the fitted forest. Correlated channels share importance; the ranking is the message.</a:t>
            </a:r>
          </a:p>
        </p:txBody>
      </p:sp>
      <p:pic>
        <p:nvPicPr>
          <p:cNvPr id="6" name="Picture 5" descr="fig10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739" y="1783080"/>
            <a:ext cx="6763561" cy="4389120"/>
          </a:xfrm>
          <a:prstGeom prst="rect">
            <a:avLst/>
          </a:prstGeom>
          <a:ln w="9525">
            <a:solidFill>
              <a:srgbClr val="D9E2E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92440" y="1828800"/>
            <a:ext cx="35204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030">
                <a:solidFill>
                  <a:srgbClr val="2E86AB"/>
                </a:solidFill>
                <a:latin typeface="Arial"/>
              </a:rPr>
              <a:t>▪  </a:t>
            </a:r>
            <a:r>
              <a:rPr sz="1030" b="1">
                <a:solidFill>
                  <a:srgbClr val="1F2A33"/>
                </a:solidFill>
                <a:latin typeface="Arial"/>
              </a:rPr>
              <a:t>Drive-axis mean acceleration</a:t>
            </a:r>
            <a:r>
              <a:rPr sz="1030">
                <a:solidFill>
                  <a:srgbClr val="1F2A33"/>
                </a:solidFill>
                <a:latin typeface="Arial"/>
              </a:rPr>
              <a:t>  the top signal — a static force offset grows with radial engagement.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030">
                <a:solidFill>
                  <a:srgbClr val="2E86AB"/>
                </a:solidFill>
                <a:latin typeface="Arial"/>
              </a:rPr>
              <a:t>▪  </a:t>
            </a:r>
            <a:r>
              <a:rPr sz="1030" b="1">
                <a:solidFill>
                  <a:srgbClr val="1F2A33"/>
                </a:solidFill>
                <a:latin typeface="Arial"/>
              </a:rPr>
              <a:t>Current variability</a:t>
            </a:r>
            <a:r>
              <a:rPr sz="1030">
                <a:solidFill>
                  <a:srgbClr val="1F2A33"/>
                </a:solidFill>
                <a:latin typeface="Arial"/>
              </a:rPr>
              <a:t>  drive and spindle current std follow the heavier, more interrupted cut.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030">
                <a:solidFill>
                  <a:srgbClr val="2E86AB"/>
                </a:solidFill>
                <a:latin typeface="Arial"/>
              </a:rPr>
              <a:t>▪  </a:t>
            </a:r>
            <a:r>
              <a:rPr sz="1030" b="1">
                <a:solidFill>
                  <a:srgbClr val="1F2A33"/>
                </a:solidFill>
                <a:latin typeface="Arial"/>
              </a:rPr>
              <a:t>No wear counter or ID</a:t>
            </a:r>
            <a:r>
              <a:rPr sz="1030">
                <a:solidFill>
                  <a:srgbClr val="1F2A33"/>
                </a:solidFill>
                <a:latin typeface="Arial"/>
              </a:rPr>
              <a:t>  metadata is excluded, so the model cannot read the target.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030">
                <a:solidFill>
                  <a:srgbClr val="2E86AB"/>
                </a:solidFill>
                <a:latin typeface="Arial"/>
              </a:rPr>
              <a:t>▪  </a:t>
            </a:r>
            <a:r>
              <a:rPr sz="1030" b="1">
                <a:solidFill>
                  <a:srgbClr val="1F2A33"/>
                </a:solidFill>
                <a:latin typeface="Arial"/>
              </a:rPr>
              <a:t>Physically plausible</a:t>
            </a:r>
            <a:r>
              <a:rPr sz="1030">
                <a:solidFill>
                  <a:srgbClr val="1F2A33"/>
                </a:solidFill>
                <a:latin typeface="Arial"/>
              </a:rPr>
              <a:t>  the ranking matches cutting mechanics, not a dataset artefact.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10528"/>
            <a:ext cx="8778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573"/>
                </a:solidFill>
                <a:latin typeface="Arial"/>
              </a:rPr>
              <a:t>Piecuch &amp; Żabiński, Scientific Data 12, 650 (2025) · CC BY 4.0 · ME-446 CEP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573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E86AB"/>
                </a:solidFill>
                <a:latin typeface="Arial"/>
              </a:rPr>
              <a:t>09 · UNSEEN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62B3C"/>
                </a:solidFill>
                <a:latin typeface="Arial"/>
              </a:rPr>
              <a:t>Held-out experiments behave as they should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71016"/>
            <a:ext cx="960120" cy="50292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573"/>
                </a:solidFill>
                <a:latin typeface="Arial"/>
              </a:rPr>
              <a:t>A fresh forest is trained without P002 and P108, then applied to all 127 of their cycles.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828800"/>
          <a:ext cx="5486398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881742"/>
                <a:gridCol w="881742"/>
                <a:gridCol w="979714"/>
              </a:tblGrid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Experiment</a:t>
                      </a:r>
                    </a:p>
                  </a:txBody>
                  <a:tcPr marL="54864" marR="54864" marT="32004" marB="32004" anchor="ctr">
                    <a:solidFill>
                      <a:srgbClr val="162B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Actual</a:t>
                      </a:r>
                    </a:p>
                  </a:txBody>
                  <a:tcPr marL="54864" marR="54864" marT="32004" marB="32004" anchor="ctr">
                    <a:solidFill>
                      <a:srgbClr val="162B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Cycles</a:t>
                      </a:r>
                    </a:p>
                  </a:txBody>
                  <a:tcPr marL="54864" marR="54864" marT="32004" marB="32004" anchor="ctr">
                    <a:solidFill>
                      <a:srgbClr val="162B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Mean P</a:t>
                      </a:r>
                    </a:p>
                  </a:txBody>
                  <a:tcPr marL="54864" marR="54864" marT="32004" marB="32004" anchor="ctr">
                    <a:solidFill>
                      <a:srgbClr val="162B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Flagged</a:t>
                      </a:r>
                    </a:p>
                  </a:txBody>
                  <a:tcPr marL="54864" marR="54864" marT="32004" marB="32004" anchor="ctr">
                    <a:solidFill>
                      <a:srgbClr val="162B3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A33"/>
                          </a:solidFill>
                          <a:latin typeface="Arial"/>
                        </a:rPr>
                        <a:t>P002</a:t>
                      </a:r>
                    </a:p>
                  </a:txBody>
                  <a:tcPr marL="54864" marR="54864" marT="32004" marB="32004" anchor="ctr">
                    <a:solidFill>
                      <a:srgbClr val="E8F3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2A33"/>
                          </a:solidFill>
                          <a:latin typeface="Arial"/>
                        </a:rPr>
                        <a:t>Dangerous</a:t>
                      </a:r>
                    </a:p>
                  </a:txBody>
                  <a:tcPr marL="54864" marR="54864" marT="32004" marB="32004" anchor="ctr">
                    <a:solidFill>
                      <a:srgbClr val="E8F3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2A33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32004" marB="32004" anchor="ctr">
                    <a:solidFill>
                      <a:srgbClr val="E8F3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2A33"/>
                          </a:solidFill>
                          <a:latin typeface="Arial"/>
                        </a:rPr>
                        <a:t>0.746</a:t>
                      </a:r>
                    </a:p>
                  </a:txBody>
                  <a:tcPr marL="54864" marR="54864" marT="32004" marB="32004" anchor="ctr">
                    <a:solidFill>
                      <a:srgbClr val="E8F3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2A33"/>
                          </a:solidFill>
                          <a:latin typeface="Arial"/>
                        </a:rPr>
                        <a:t>97.8%</a:t>
                      </a:r>
                    </a:p>
                  </a:txBody>
                  <a:tcPr marL="54864" marR="54864" marT="32004" marB="32004" anchor="ctr">
                    <a:solidFill>
                      <a:srgbClr val="E8F3E4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3"/>
                          </a:solidFill>
                          <a:latin typeface="Arial"/>
                        </a:rPr>
                        <a:t>P108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3"/>
                          </a:solidFill>
                          <a:latin typeface="Arial"/>
                        </a:rPr>
                        <a:t>Optimal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3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3"/>
                          </a:solidFill>
                          <a:latin typeface="Arial"/>
                        </a:rPr>
                        <a:t>0.006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3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54864" marR="54864" marT="32004" marB="32004" anchor="ctr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3703320"/>
            <a:ext cx="54406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85876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1495B"/>
                </a:solidFill>
                <a:latin typeface="Arial"/>
              </a:rPr>
              <a:t>The one miss is a real engineering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160520"/>
            <a:ext cx="4983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>
                <a:solidFill>
                  <a:srgbClr val="1F2A33"/>
                </a:solidFill>
                <a:latin typeface="Arial"/>
              </a:rPr>
              <a:t>P002's first cycle scores 0.439 — just under the 0.444 threshold. A fresh tool has not yet developed the wear-driven rise in vibration and current. Use a rolling window, not a verdict on one cycle.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828800"/>
            <a:ext cx="5257800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993392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E86AB"/>
                </a:solidFill>
                <a:latin typeface="Arial"/>
              </a:rPr>
              <a:t>Single-cycle scoring with the final model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583680" y="2377440"/>
          <a:ext cx="4800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204"/>
                <a:gridCol w="1248156"/>
                <a:gridCol w="1056132"/>
                <a:gridCol w="864108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Cycle</a:t>
                      </a:r>
                    </a:p>
                  </a:txBody>
                  <a:tcPr marL="54864" marR="54864" marT="32004" marB="32004" anchor="ctr">
                    <a:solidFill>
                      <a:srgbClr val="162B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Actual</a:t>
                      </a:r>
                    </a:p>
                  </a:txBody>
                  <a:tcPr marL="54864" marR="54864" marT="32004" marB="32004" anchor="ctr">
                    <a:solidFill>
                      <a:srgbClr val="162B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P(dangerous)</a:t>
                      </a:r>
                    </a:p>
                  </a:txBody>
                  <a:tcPr marL="54864" marR="54864" marT="32004" marB="32004" anchor="ctr">
                    <a:solidFill>
                      <a:srgbClr val="162B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54864" marR="54864" marT="32004" marB="32004" anchor="ctr">
                    <a:solidFill>
                      <a:srgbClr val="162B3C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P002_F12_C4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Dangerous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0.967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F2A33"/>
                          </a:solidFill>
                          <a:latin typeface="Arial"/>
                        </a:rPr>
                        <a:t>Flag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2A33"/>
                          </a:solidFill>
                          <a:latin typeface="Arial"/>
                        </a:rPr>
                        <a:t>P108_F12_C7</a:t>
                      </a:r>
                    </a:p>
                  </a:txBody>
                  <a:tcPr marL="54864" marR="54864" marT="32004" marB="32004" anchor="ctr">
                    <a:solidFill>
                      <a:srgbClr val="E8F3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A33"/>
                          </a:solidFill>
                          <a:latin typeface="Arial"/>
                        </a:rPr>
                        <a:t>Optimal</a:t>
                      </a:r>
                    </a:p>
                  </a:txBody>
                  <a:tcPr marL="54864" marR="54864" marT="32004" marB="32004" anchor="ctr">
                    <a:solidFill>
                      <a:srgbClr val="E8F3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A33"/>
                          </a:solidFill>
                          <a:latin typeface="Arial"/>
                        </a:rPr>
                        <a:t>0.000</a:t>
                      </a:r>
                    </a:p>
                  </a:txBody>
                  <a:tcPr marL="54864" marR="54864" marT="32004" marB="32004" anchor="ctr">
                    <a:solidFill>
                      <a:srgbClr val="E8F3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A33"/>
                          </a:solidFill>
                          <a:latin typeface="Arial"/>
                        </a:rPr>
                        <a:t>Clear</a:t>
                      </a:r>
                    </a:p>
                  </a:txBody>
                  <a:tcPr marL="54864" marR="54864" marT="32004" marB="32004" anchor="ctr">
                    <a:solidFill>
                      <a:srgbClr val="E8F3E4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583680" y="3858768"/>
            <a:ext cx="48006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>
                <a:solidFill>
                  <a:srgbClr val="1F2A33"/>
                </a:solidFill>
                <a:latin typeface="Arial"/>
              </a:rPr>
              <a:t>Same 120-feature interface a deployment would use: one row of sensor statistics, no metadata. P108 is cleared on every cycle; P002 is flagged on 45 of 46.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8778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573"/>
                </a:solidFill>
                <a:latin typeface="Arial"/>
              </a:rPr>
              <a:t>Piecuch &amp; Żabiński, Scientific Data 12, 650 (2025) · CC BY 4.0 · ME-446 CEP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51052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573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E86AB"/>
                </a:solidFill>
                <a:latin typeface="Arial"/>
              </a:rPr>
              <a:t>10 · ENGINEERING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62B3C"/>
                </a:solidFill>
                <a:latin typeface="Arial"/>
              </a:rPr>
              <a:t>A data-driven cutting-force monitor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71016"/>
            <a:ext cx="960120" cy="50292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573"/>
                </a:solidFill>
                <a:latin typeface="Arial"/>
              </a:rPr>
              <a:t>The model's signal and its errors both make physical sense.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10512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97510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E86AB"/>
                </a:solidFill>
                <a:latin typeface="Arial"/>
              </a:rPr>
              <a:t>SIGNAL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331720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80" b="0">
                <a:solidFill>
                  <a:srgbClr val="1F2A33"/>
                </a:solidFill>
                <a:latin typeface="Arial"/>
              </a:rPr>
              <a:t>Larger RDOC → higher chip load → higher drive-axis mean acceleration and more variable spindle/drive current.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810512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197510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A994E"/>
                </a:solidFill>
                <a:latin typeface="Arial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331720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80" b="0">
                <a:solidFill>
                  <a:srgbClr val="1F2A33"/>
                </a:solidFill>
                <a:latin typeface="Arial"/>
              </a:rPr>
              <a:t>The forest combines correlated channels and shifts its decision boundary at 0.444 to favour recall.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3" y="1810512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97510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1495B"/>
                </a:solidFill>
                <a:latin typeface="Arial"/>
              </a:rPr>
              <a:t>ERROR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2331720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80" b="0">
                <a:solidFill>
                  <a:srgbClr val="1F2A33"/>
                </a:solidFill>
                <a:latin typeface="Arial"/>
              </a:rPr>
              <a:t>Wear, hardness and tool geometry move the signature in the same direction as RDOC, so tool 7 overlaps.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005072"/>
            <a:ext cx="11064240" cy="1554480"/>
          </a:xfrm>
          <a:prstGeom prst="roundRect">
            <a:avLst>
              <a:gd name="adj" fmla="val 6000"/>
            </a:avLst>
          </a:prstGeom>
          <a:solidFill>
            <a:srgbClr val="162B3C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18795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9FC6DE"/>
                </a:solidFill>
                <a:latin typeface="Arial"/>
              </a:rPr>
              <a:t>CONSEQUENCE OF AN 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498848"/>
            <a:ext cx="10469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FFFFFF"/>
                </a:solidFill>
                <a:latin typeface="Arial"/>
              </a:rPr>
              <a:t>A false negative continues a dangerous cut — faster wear, chatter, scrap or a broken tool. A false positive costs an inspection. The threshold and the human-in-the-loop workflow are chosen around that asymmetry.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8778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573"/>
                </a:solidFill>
                <a:latin typeface="Arial"/>
              </a:rPr>
              <a:t>Piecuch &amp; Żabiński, Scientific Data 12, 650 (2025) · CC BY 4.0 · ME-446 CEP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51052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573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E86AB"/>
                </a:solidFill>
                <a:latin typeface="Arial"/>
              </a:rPr>
              <a:t>11 · CAVEATS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62B3C"/>
                </a:solidFill>
                <a:latin typeface="Arial"/>
              </a:rPr>
              <a:t>Strong screening alarm, not a causal instrument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71016"/>
            <a:ext cx="960120" cy="50292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573"/>
                </a:solidFill>
                <a:latin typeface="Arial"/>
              </a:rPr>
              <a:t>The confound is a property of the experiment, not something a better model can remove.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53949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3852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1495B"/>
                </a:solidFill>
                <a:latin typeface="Arial"/>
              </a:rP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489204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960">
                <a:solidFill>
                  <a:srgbClr val="2E86AB"/>
                </a:solidFill>
                <a:latin typeface="Arial"/>
              </a:rPr>
              <a:t>▪  </a:t>
            </a:r>
            <a:r>
              <a:rPr sz="960" b="1">
                <a:solidFill>
                  <a:srgbClr val="1F2A33"/>
                </a:solidFill>
                <a:latin typeface="Arial"/>
              </a:rPr>
              <a:t>Confounded design</a:t>
            </a:r>
            <a:r>
              <a:rPr sz="960">
                <a:solidFill>
                  <a:srgbClr val="1F2A33"/>
                </a:solidFill>
                <a:latin typeface="Arial"/>
              </a:rPr>
              <a:t>  RDOC constant within each tool and experiment.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960">
                <a:solidFill>
                  <a:srgbClr val="2E86AB"/>
                </a:solidFill>
                <a:latin typeface="Arial"/>
              </a:rPr>
              <a:t>▪  </a:t>
            </a:r>
            <a:r>
              <a:rPr sz="960" b="1">
                <a:solidFill>
                  <a:srgbClr val="1F2A33"/>
                </a:solidFill>
                <a:latin typeface="Arial"/>
              </a:rPr>
              <a:t>Wear confound</a:t>
            </a:r>
            <a:r>
              <a:rPr sz="960">
                <a:solidFill>
                  <a:srgbClr val="1F2A33"/>
                </a:solidFill>
                <a:latin typeface="Arial"/>
              </a:rPr>
              <a:t>  Dangerous tools fail sooner; signal drifts with life.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960">
                <a:solidFill>
                  <a:srgbClr val="2E86AB"/>
                </a:solidFill>
                <a:latin typeface="Arial"/>
              </a:rPr>
              <a:t>▪  </a:t>
            </a:r>
            <a:r>
              <a:rPr sz="960" b="1">
                <a:solidFill>
                  <a:srgbClr val="1F2A33"/>
                </a:solidFill>
                <a:latin typeface="Arial"/>
              </a:rPr>
              <a:t>Small tool count</a:t>
            </a:r>
            <a:r>
              <a:rPr sz="960">
                <a:solidFill>
                  <a:srgbClr val="1F2A33"/>
                </a:solidFill>
                <a:latin typeface="Arial"/>
              </a:rPr>
              <a:t>  14 tools, 5 dangerous; tool 7 dominates errors.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960">
                <a:solidFill>
                  <a:srgbClr val="2E86AB"/>
                </a:solidFill>
                <a:latin typeface="Arial"/>
              </a:rPr>
              <a:t>▪  </a:t>
            </a:r>
            <a:r>
              <a:rPr sz="960" b="1">
                <a:solidFill>
                  <a:srgbClr val="1F2A33"/>
                </a:solidFill>
                <a:latin typeface="Arial"/>
              </a:rPr>
              <a:t>Pre-computed features</a:t>
            </a:r>
            <a:r>
              <a:rPr sz="960">
                <a:solidFill>
                  <a:srgbClr val="1F2A33"/>
                </a:solidFill>
                <a:latin typeface="Arial"/>
              </a:rPr>
              <a:t>  No raw waveforms; no re-optimised windows.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960">
                <a:solidFill>
                  <a:srgbClr val="2E86AB"/>
                </a:solidFill>
                <a:latin typeface="Arial"/>
              </a:rPr>
              <a:t>▪  </a:t>
            </a:r>
            <a:r>
              <a:rPr sz="960" b="1">
                <a:solidFill>
                  <a:srgbClr val="1F2A33"/>
                </a:solidFill>
                <a:latin typeface="Arial"/>
              </a:rPr>
              <a:t>Uncalibrated units</a:t>
            </a:r>
            <a:r>
              <a:rPr sz="960">
                <a:solidFill>
                  <a:srgbClr val="1F2A33"/>
                </a:solidFill>
                <a:latin typeface="Arial"/>
              </a:rPr>
              <a:t>  ADC counts, single machine, one campaign.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3949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93852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A994E"/>
                </a:solidFill>
                <a:latin typeface="Arial"/>
              </a:rPr>
              <a:t>RECOMMENDATIONS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2286000"/>
            <a:ext cx="489204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960">
                <a:solidFill>
                  <a:srgbClr val="2E86AB"/>
                </a:solidFill>
                <a:latin typeface="Arial"/>
              </a:rPr>
              <a:t>▪  </a:t>
            </a:r>
            <a:r>
              <a:rPr sz="960" b="1">
                <a:solidFill>
                  <a:srgbClr val="1F2A33"/>
                </a:solidFill>
                <a:latin typeface="Arial"/>
              </a:rPr>
              <a:t>Two-cycle confirmation</a:t>
            </a:r>
            <a:r>
              <a:rPr sz="960">
                <a:solidFill>
                  <a:srgbClr val="1F2A33"/>
                </a:solidFill>
                <a:latin typeface="Arial"/>
              </a:rPr>
              <a:t>  Do not retract on one marginal cycle.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960">
                <a:solidFill>
                  <a:srgbClr val="2E86AB"/>
                </a:solidFill>
                <a:latin typeface="Arial"/>
              </a:rPr>
              <a:t>▪  </a:t>
            </a:r>
            <a:r>
              <a:rPr sz="960" b="1">
                <a:solidFill>
                  <a:srgbClr val="1F2A33"/>
                </a:solidFill>
                <a:latin typeface="Arial"/>
              </a:rPr>
              <a:t>Tool-specific baseline</a:t>
            </a:r>
            <a:r>
              <a:rPr sz="960">
                <a:solidFill>
                  <a:srgbClr val="1F2A33"/>
                </a:solidFill>
                <a:latin typeface="Arial"/>
              </a:rPr>
              <a:t>  Compare with the tool's own early-life signature.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960">
                <a:solidFill>
                  <a:srgbClr val="2E86AB"/>
                </a:solidFill>
                <a:latin typeface="Arial"/>
              </a:rPr>
              <a:t>▪  </a:t>
            </a:r>
            <a:r>
              <a:rPr sz="960" b="1">
                <a:solidFill>
                  <a:srgbClr val="1F2A33"/>
                </a:solidFill>
                <a:latin typeface="Arial"/>
              </a:rPr>
              <a:t>Balanced experiment</a:t>
            </a:r>
            <a:r>
              <a:rPr sz="960">
                <a:solidFill>
                  <a:srgbClr val="1F2A33"/>
                </a:solidFill>
                <a:latin typeface="Arial"/>
              </a:rPr>
              <a:t>  Cut the same tool at both RDOC levels.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960">
                <a:solidFill>
                  <a:srgbClr val="2E86AB"/>
                </a:solidFill>
                <a:latin typeface="Arial"/>
              </a:rPr>
              <a:t>▪  </a:t>
            </a:r>
            <a:r>
              <a:rPr sz="960" b="1">
                <a:solidFill>
                  <a:srgbClr val="1F2A33"/>
                </a:solidFill>
                <a:latin typeface="Arial"/>
              </a:rPr>
              <a:t>Calibrate channels</a:t>
            </a:r>
            <a:r>
              <a:rPr sz="960">
                <a:solidFill>
                  <a:srgbClr val="1F2A33"/>
                </a:solidFill>
                <a:latin typeface="Arial"/>
              </a:rPr>
              <a:t>  Convert ADC to g and A before transfer.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960">
                <a:solidFill>
                  <a:srgbClr val="2E86AB"/>
                </a:solidFill>
                <a:latin typeface="Arial"/>
              </a:rPr>
              <a:t>▪  </a:t>
            </a:r>
            <a:r>
              <a:rPr sz="960" b="1">
                <a:solidFill>
                  <a:srgbClr val="1F2A33"/>
                </a:solidFill>
                <a:latin typeface="Arial"/>
              </a:rPr>
              <a:t>Tune to cost ratio</a:t>
            </a:r>
            <a:r>
              <a:rPr sz="960">
                <a:solidFill>
                  <a:srgbClr val="1F2A33"/>
                </a:solidFill>
                <a:latin typeface="Arial"/>
              </a:rPr>
              <a:t>  Inspection cost vs missed-cut risk.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10528"/>
            <a:ext cx="8778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573"/>
                </a:solidFill>
                <a:latin typeface="Arial"/>
              </a:rPr>
              <a:t>Piecuch &amp; Żabiński, Scientific Data 12, 650 (2025) · CC BY 4.0 · ME-446 CEP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51052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573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B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6868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FC6DE"/>
                </a:solidFill>
                <a:latin typeface="Arial"/>
              </a:rPr>
              <a:t>ME-446 · COMPLEX ENGINEERING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Arial"/>
              </a:rPr>
              <a:t>Delivered and reproducible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514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9FC6DE"/>
                </a:solidFill>
                <a:latin typeface="Arial"/>
              </a:rPr>
              <a:t>11 figures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2514600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Arial"/>
              </a:rPr>
              <a:t>EDA, model comparison, calibration, per-tool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17296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9FC6DE"/>
                </a:solidFill>
                <a:latin typeface="Arial"/>
              </a:rPr>
              <a:t>Executed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4680" y="317296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Arial"/>
              </a:rPr>
              <a:t>cleaning → models → threshold → unseen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831335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9FC6DE"/>
                </a:solidFill>
                <a:latin typeface="Arial"/>
              </a:rPr>
              <a:t>Streamlit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3831335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Arial"/>
              </a:rPr>
              <a:t>6 tabs, threshold slider, live scoring, CSV upload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448970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9FC6DE"/>
                </a:solidFill>
                <a:latin typeface="Arial"/>
              </a:rPr>
              <a:t>Tableau extracts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4489704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Arial"/>
              </a:rPr>
              <a:t>8 tables + calculated-field build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514807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9FC6DE"/>
                </a:solidFill>
                <a:latin typeface="Arial"/>
              </a:rPr>
              <a:t>Technical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5148072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Arial"/>
              </a:rPr>
              <a:t>17 pages, 5 400 words, 11 figures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978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B7CBD9"/>
                </a:solidFill>
                <a:latin typeface="Arial"/>
              </a:rPr>
              <a:t>github.com/Shahbaz2104/milling-cep  · 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